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B1B1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1B1B"/>
                </a:solidFill>
                <a:latin typeface="Arial" panose="020B0604020202020204"/>
              </a:rPr>
              <a:t>78.6% / 21.4% split</a:t>
            </a:r>
            <a:endParaRPr sz="1200" b="0" i="0" u="none" strike="noStrike">
              <a:solidFill>
                <a:srgbClr val="1B1B1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used_before_expiry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40916C"/>
              </a:solidFill>
              <a:effectLst/>
            </c:spPr>
          </c:dPt>
          <c:dPt>
            <c:idx val="1"/>
            <c:bubble3D val="0"/>
            <c:spPr>
              <a:solidFill>
                <a:srgbClr val="E07A5F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Used before expiry (393)</c:v>
                </c:pt>
                <c:pt idx="1">
                  <c:v>Not used — wasted (107)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393</c:v>
                </c:pt>
                <c:pt idx="1">
                  <c:v>107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rgbClr val="1B1B1B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c90f1c9-acdf-4f18-ae9c-0c5af576dad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B1B1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</c:v>
                </c:pt>
                <c:pt idx="1">
                  <c:v>0.76</c:v>
                </c:pt>
                <c:pt idx="2">
                  <c:v>0.78</c:v>
                </c:pt>
                <c:pt idx="3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B1B1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0.687</c:v>
                </c:pt>
                <c:pt idx="1">
                  <c:v>0.86</c:v>
                </c:pt>
                <c:pt idx="2">
                  <c:v>0.876</c:v>
                </c:pt>
                <c:pt idx="3">
                  <c:v>0.875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95D5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1B1B1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0.648</c:v>
                </c:pt>
                <c:pt idx="1">
                  <c:v>0.573</c:v>
                </c:pt>
                <c:pt idx="2">
                  <c:v>0.562</c:v>
                </c:pt>
                <c:pt idx="3">
                  <c:v>0.591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B1B1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C757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50" b="0" i="0" u="none" strike="noStrike" kern="1200" baseline="0">
              <a:solidFill>
                <a:srgbClr val="1B1B1B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d1520d1-b2e8-444f-abe5-d79c5eea837d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Class-0 Recall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1B1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RF
(baseline)</c:v>
                </c:pt>
                <c:pt idx="1">
                  <c:v>RF + SMOTE
(default thr.)</c:v>
                </c:pt>
                <c:pt idx="2">
                  <c:v>RF + SMOTE
(tuned thr.)</c:v>
                </c:pt>
                <c:pt idx="3">
                  <c:v>GB
(baseline)</c:v>
                </c:pt>
                <c:pt idx="4">
                  <c:v>GB + SMOTE
(tuned thr.)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0.19</c:v>
                </c:pt>
                <c:pt idx="2">
                  <c:v>0.857</c:v>
                </c:pt>
                <c:pt idx="3">
                  <c:v>0.048</c:v>
                </c:pt>
                <c:pt idx="4">
                  <c:v>0.619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B1B1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 cmpd="sng" algn="ctr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C757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d90c136-818b-42d8-90e4-27f07a6eb00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B1B1B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Arial" panose="020B0604020202020204"/>
              </a:rPr>
              <a:t>Top 8 features — Random Forest</a:t>
            </a:r>
            <a:endParaRPr sz="1300" b="0" i="0" u="none" strike="noStrike">
              <a:solidFill>
                <a:srgbClr val="1B1B1B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Importance</c:v>
                </c:pt>
              </c:strCache>
            </c:strRef>
          </c:tx>
          <c:spPr>
            <a:solidFill>
              <a:srgbClr val="40916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B1B1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quantity_cat_Medium</c:v>
                </c:pt>
                <c:pt idx="1">
                  <c:v>item_vegetable</c:v>
                </c:pt>
                <c:pt idx="2">
                  <c:v>storage_freezer</c:v>
                </c:pt>
                <c:pt idx="3">
                  <c:v>storage_fridge</c:v>
                </c:pt>
                <c:pt idx="4">
                  <c:v>quantity</c:v>
                </c:pt>
                <c:pt idx="5">
                  <c:v>purchase_month</c:v>
                </c:pt>
                <c:pt idx="6">
                  <c:v>purchase_day_of_week</c:v>
                </c:pt>
                <c:pt idx="7">
                  <c:v>days_until_expiry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0.033</c:v>
                </c:pt>
                <c:pt idx="1">
                  <c:v>0.035</c:v>
                </c:pt>
                <c:pt idx="2">
                  <c:v>0.036</c:v>
                </c:pt>
                <c:pt idx="3">
                  <c:v>0.036</c:v>
                </c:pt>
                <c:pt idx="4">
                  <c:v>0.124</c:v>
                </c:pt>
                <c:pt idx="5">
                  <c:v>0.132</c:v>
                </c:pt>
                <c:pt idx="6">
                  <c:v>0.147</c:v>
                </c:pt>
                <c:pt idx="7">
                  <c:v>0.2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1B1B1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C757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54e263-812a-4286-9bbe-d27d2188a1f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2D6A4F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40916C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95D5B2">
              <a:alpha val="4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5D5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CSE 4622 · MACHINE LEARNING LAB · RESEARCH PROPOSAL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Predicting Food Waste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It Happens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comparative study of classical machine learning algorithms for household food-waste prediction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828800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54864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
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Asif Hasan  ·  Saeera Tanjim  ·  Salsabil Saeed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Islamic University of Technology (IUT)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Households throw away food they never got around to using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8F5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2880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1/3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880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food produced globally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lost or wasted before it's ever eaten — much of it at the household stage.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8F5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86000"/>
            <a:ext cx="2880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3154680"/>
            <a:ext cx="2880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early warning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households have no signal for which items in the fridge are actually at risk of expiring unused.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4F8F5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86000"/>
            <a:ext cx="2880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3154680"/>
            <a:ext cx="2880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predictable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 timing, quantity, storage method, and food type all shape whether an item gets used in time.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789920" cy="822960"/>
          </a:xfrm>
          <a:prstGeom prst="rect">
            <a:avLst/>
          </a:prstGeom>
          <a:solidFill>
            <a:srgbClr val="EDF7F0"/>
          </a:solidFill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goal: build a model that flags, ahead of time, which purchased items are unlikely to be used before they expire — so a household (or app) can act on it.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 household food-purchase records, 15 raw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73152" cy="502920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6" name="Text 4"/>
          <p:cNvSpPr/>
          <p:nvPr/>
        </p:nvSpPr>
        <p:spPr>
          <a:xfrm>
            <a:off x="777240" y="182880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purchase_month, purchase_day_of_week, days_until_expiry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73152" cy="502920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9" name="Text 7"/>
          <p:cNvSpPr/>
          <p:nvPr/>
        </p:nvSpPr>
        <p:spPr>
          <a:xfrm>
            <a:off x="777240" y="269748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90088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(normalized 0–1)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73152" cy="502920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12" name="Text 10"/>
          <p:cNvSpPr/>
          <p:nvPr/>
        </p:nvSpPr>
        <p:spPr>
          <a:xfrm>
            <a:off x="777240" y="356616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Food category (7)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beverage · dairy · fruit · grain · meat · snack · vegetable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73152" cy="502920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15" name="Text 13"/>
          <p:cNvSpPr/>
          <p:nvPr/>
        </p:nvSpPr>
        <p:spPr>
          <a:xfrm>
            <a:off x="777240" y="443484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method (3)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727448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freezer · fridge · pantry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TARGET: used_before_expiry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0" y="1874520"/>
          <a:ext cx="49377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53949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EDF7F0"/>
          </a:solidFill>
        </p:spPr>
      </p:sp>
      <p:sp>
        <p:nvSpPr>
          <p:cNvPr id="20" name="Text 17"/>
          <p:cNvSpPr/>
          <p:nvPr/>
        </p:nvSpPr>
        <p:spPr>
          <a:xfrm>
            <a:off x="822960" y="5394960"/>
            <a:ext cx="10241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50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challenge:  </a:t>
            </a:r>
            <a:r>
              <a:rPr lang="en-US" sz="13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target is imbalanced (~79% / 21%). This shapes every modeling decision from here on — accuracy alone will be misleading.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CSV to a deployable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5" name="Text 3"/>
          <p:cNvSpPr/>
          <p:nvPr/>
        </p:nvSpPr>
        <p:spPr>
          <a:xfrm>
            <a:off x="5486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659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107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8" name="Text 6"/>
          <p:cNvSpPr/>
          <p:nvPr/>
        </p:nvSpPr>
        <p:spPr>
          <a:xfrm>
            <a:off x="21107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80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728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11" name="Text 9"/>
          <p:cNvSpPr/>
          <p:nvPr/>
        </p:nvSpPr>
        <p:spPr>
          <a:xfrm>
            <a:off x="36728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/ Test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Split (80/20)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901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349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14" name="Text 12"/>
          <p:cNvSpPr/>
          <p:nvPr/>
        </p:nvSpPr>
        <p:spPr>
          <a:xfrm>
            <a:off x="52349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numeric features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522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970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17" name="Text 15"/>
          <p:cNvSpPr/>
          <p:nvPr/>
        </p:nvSpPr>
        <p:spPr>
          <a:xfrm>
            <a:off x="67970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 4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43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591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40916C"/>
          </a:solidFill>
        </p:spPr>
      </p:sp>
      <p:sp>
        <p:nvSpPr>
          <p:cNvPr id="20" name="Text 18"/>
          <p:cNvSpPr/>
          <p:nvPr/>
        </p:nvSpPr>
        <p:spPr>
          <a:xfrm>
            <a:off x="83591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imbalance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76460" y="2903220"/>
            <a:ext cx="144780" cy="0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21240" y="237744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</p:spPr>
      </p:sp>
      <p:sp>
        <p:nvSpPr>
          <p:cNvPr id="23" name="Text 21"/>
          <p:cNvSpPr/>
          <p:nvPr/>
        </p:nvSpPr>
        <p:spPr>
          <a:xfrm>
            <a:off x="9921240" y="2377440"/>
            <a:ext cx="14173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Tune +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final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1–2 · Understand &amp; engineer
</a:t>
            </a: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Distribution checks, correlation heatmap, then engineered quantity_category and season features from normalized values.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3–5 · Prepare &amp; train
</a:t>
            </a: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split preserves the 79/21 ratio; StandardScaler fit only on train. Logistic Regression, Decision Tree, Random Forest, Gradient Boosting.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0789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6–7 · Fix imbalance &amp; finalize
</a:t>
            </a: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oversampling on the training set, decision-threshold tuning, then a metric-driven choice of final model.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engineered features add interpretability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8F5"/>
          </a:solidFill>
        </p:spPr>
      </p:sp>
      <p:sp>
        <p:nvSpPr>
          <p:cNvPr id="5" name="Text 3"/>
          <p:cNvSpPr/>
          <p:nvPr/>
        </p:nvSpPr>
        <p:spPr>
          <a:xfrm>
            <a:off x="868680" y="20116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quantity_category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Bucket the normalized quantity value into three tiers: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88036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&lt; 0.33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02152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3502152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0.33 ≤ quantity &lt; 0.66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123944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123944"/>
            <a:ext cx="1280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4123944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≥ 0.66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837176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One-hot encoded with drop_first=True → quantity_category_Medium, quantity_category_Small.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8F5"/>
          </a:solidFill>
        </p:spPr>
      </p:sp>
      <p:sp>
        <p:nvSpPr>
          <p:cNvPr id="18" name="Text 16"/>
          <p:cNvSpPr/>
          <p:nvPr/>
        </p:nvSpPr>
        <p:spPr>
          <a:xfrm>
            <a:off x="6400800" y="20116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season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 a calendar month from normalized purchase_month, then map to a season: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017520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17520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0" y="3017520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 · Jan · Feb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529584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529584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63840" y="3529584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 · Apr · May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041648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041648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0" y="4041648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 · Jul · Aug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553712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553712"/>
            <a:ext cx="12801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Autumn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3840" y="4553712"/>
            <a:ext cx="30175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 · Oct · Nov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175504"/>
            <a:ext cx="4663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= int(purchase_month × 12) + 1, then bucketed. One-hot encoded (drop_first=True) → 3 season columns.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PASS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classical algorithms, evaluated head-to-head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0789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paper, Random Forest and Gradient Boosting look like the clear winners — highest accuracy and F1. The next slide shows why that's misleading.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5D5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ACCURACY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 never once predicted “will be wasted”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 — TEST SET CONFUSION MATRIX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40916C"/>
          </a:solidFill>
        </p:spPr>
      </p:sp>
      <p:sp>
        <p:nvSpPr>
          <p:cNvPr id="6" name="Text 4"/>
          <p:cNvSpPr/>
          <p:nvPr/>
        </p:nvSpPr>
        <p:spPr>
          <a:xfrm>
            <a:off x="822960" y="2103120"/>
            <a:ext cx="1371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196596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2F5B4A"/>
          </a:solidFill>
        </p:spPr>
      </p:sp>
      <p:sp>
        <p:nvSpPr>
          <p:cNvPr id="9" name="Text 7"/>
          <p:cNvSpPr/>
          <p:nvPr/>
        </p:nvSpPr>
        <p:spPr>
          <a:xfrm>
            <a:off x="2331720" y="2103120"/>
            <a:ext cx="1371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31720" y="283464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C1502F"/>
          </a:solidFill>
        </p:spPr>
      </p:sp>
      <p:sp>
        <p:nvSpPr>
          <p:cNvPr id="12" name="Text 10"/>
          <p:cNvSpPr/>
          <p:nvPr/>
        </p:nvSpPr>
        <p:spPr>
          <a:xfrm>
            <a:off x="822960" y="3611880"/>
            <a:ext cx="1371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" y="43434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347472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E07A5F"/>
          </a:solidFill>
        </p:spPr>
      </p:sp>
      <p:sp>
        <p:nvSpPr>
          <p:cNvPr id="15" name="Text 13"/>
          <p:cNvSpPr/>
          <p:nvPr/>
        </p:nvSpPr>
        <p:spPr>
          <a:xfrm>
            <a:off x="2331720" y="3611880"/>
            <a:ext cx="1371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31720" y="4343400"/>
            <a:ext cx="1371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Wasted items caught: 0 out of 21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HAPPENS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512064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a 79% / 21% split, always predicting “used” already scores ~79% accuracy.
</a:t>
            </a: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Tree ensembles trained on the raw imbalance learn exactly that shortcut — high overall accuracy, </a:t>
            </a:r>
            <a:r>
              <a:rPr lang="en-US" sz="135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ability to flag the food that actually goes to waste.
</a:t>
            </a: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 food-waste tool, that's the one class we most need the model to catch.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534924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2F5B4A"/>
          </a:solidFill>
        </p:spPr>
      </p:sp>
      <p:sp>
        <p:nvSpPr>
          <p:cNvPr id="21" name="Text 19"/>
          <p:cNvSpPr/>
          <p:nvPr/>
        </p:nvSpPr>
        <p:spPr>
          <a:xfrm>
            <a:off x="6675120" y="53492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Class-0 (wasted) recall by model: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57% · DT 10% · RF 0% · GB 5%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SMOTE + threshold tuning to recover minority recall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4F8F5"/>
          </a:solidFill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· SMOTE oversampling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 examples are generated for the “wasted” class — training set only, never the test set.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strike="sngStrike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314 : 86  </a:t>
            </a:r>
            <a:r>
              <a:rPr lang="en-US" sz="16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 314 : 314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8F5"/>
          </a:solidFill>
        </p:spPr>
      </p:sp>
      <p:sp>
        <p:nvSpPr>
          <p:cNvPr id="9" name="Text 7"/>
          <p:cNvSpPr/>
          <p:nvPr/>
        </p:nvSpPr>
        <p:spPr>
          <a:xfrm>
            <a:off x="6217920" y="19659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· Decision threshold tuning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377440"/>
            <a:ext cx="4846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the default 0.50 cutoff, sweep thresholds and pick the one maximizing F1 on the wasted class.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10896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strike="sngStrike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0.50  </a:t>
            </a:r>
            <a:r>
              <a:rPr lang="en-US" sz="16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 0.71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CLASS-0 (WASTED) RECALL, BEFORE vs. AFTER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4297680"/>
          <a:ext cx="10789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Random Forest + SMOTE, threshold = 0.71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8F5"/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85.7%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— wasted items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8F5"/>
          </a:solidFill>
        </p:spPr>
      </p:sp>
      <p:sp>
        <p:nvSpPr>
          <p:cNvPr id="8" name="Text 6"/>
          <p:cNvSpPr/>
          <p:nvPr/>
        </p:nvSpPr>
        <p:spPr>
          <a:xfrm>
            <a:off x="3291840" y="18288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54.0%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8F5"/>
          </a:solidFill>
        </p:spPr>
      </p:sp>
      <p:sp>
        <p:nvSpPr>
          <p:cNvPr id="11" name="Text 9"/>
          <p:cNvSpPr/>
          <p:nvPr/>
        </p:nvSpPr>
        <p:spPr>
          <a:xfrm>
            <a:off x="6035040" y="18288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0.62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8F5"/>
          </a:solidFill>
        </p:spPr>
      </p:sp>
      <p:sp>
        <p:nvSpPr>
          <p:cNvPr id="14" name="Text 12"/>
          <p:cNvSpPr/>
          <p:nvPr/>
        </p:nvSpPr>
        <p:spPr>
          <a:xfrm>
            <a:off x="8778240" y="1828800"/>
            <a:ext cx="2514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50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560320"/>
            <a:ext cx="2240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— wasted items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THIS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0789920" cy="2331720"/>
          </a:xfrm>
          <a:prstGeom prst="roundRect">
            <a:avLst>
              <a:gd name="adj" fmla="val 4706"/>
            </a:avLst>
          </a:prstGeom>
          <a:solidFill>
            <a:srgbClr val="1B4332"/>
          </a:solidFill>
        </p:spPr>
      </p:sp>
      <p:sp>
        <p:nvSpPr>
          <p:cNvPr id="18" name="Text 16"/>
          <p:cNvSpPr/>
          <p:nvPr/>
        </p:nvSpPr>
        <p:spPr>
          <a:xfrm>
            <a:off x="822960" y="3931920"/>
            <a:ext cx="102412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optimized for recall on the wasted class, not overall accuracy, because a false negative here means a household ships zero warning before food actually spoils — the exact failure the system exists to prevent. Random Forest with SMOTE oversampling and a tuned 0.71 threshold catches 85.7% of items that will be wasted, versus 0–5% for the untouched baseline models, at the acceptable cost of more false alarms (accuracy drops to 54%, precision to 29.5%). We treat that trade-off as correct for this use case: a household can quickly dismiss a false “use this soon” nudge, but a missed one leads straight to spoiled food.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actually drives food waste in this data?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4008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60020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757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RESULT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223760" y="2029968"/>
            <a:ext cx="82296" cy="8229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7" name="Text 4"/>
          <p:cNvSpPr/>
          <p:nvPr/>
        </p:nvSpPr>
        <p:spPr>
          <a:xfrm>
            <a:off x="7452360" y="1892808"/>
            <a:ext cx="3886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Time-based features dominate: days_until_expiry, purchase_day_of_week, and purchase_month together account for roughly half the model's decision weight.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23760" y="3081528"/>
            <a:ext cx="82296" cy="8229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9" name="Text 6"/>
          <p:cNvSpPr/>
          <p:nvPr/>
        </p:nvSpPr>
        <p:spPr>
          <a:xfrm>
            <a:off x="7452360" y="2944368"/>
            <a:ext cx="3886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matters almost as much as timing — larger purchases are harder to use up in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23760" y="4133088"/>
            <a:ext cx="82296" cy="8229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1" name="Text 8"/>
          <p:cNvSpPr/>
          <p:nvPr/>
        </p:nvSpPr>
        <p:spPr>
          <a:xfrm>
            <a:off x="7452360" y="3995928"/>
            <a:ext cx="3886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method (fridge vs. freezer) and category (e.g. vegetable) matter, but far less than timing and amount.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5184648"/>
            <a:ext cx="82296" cy="82296"/>
          </a:xfrm>
          <a:prstGeom prst="ellipse">
            <a:avLst/>
          </a:prstGeom>
          <a:solidFill>
            <a:srgbClr val="40916C"/>
          </a:solidFill>
        </p:spPr>
      </p:sp>
      <p:sp>
        <p:nvSpPr>
          <p:cNvPr id="13" name="Text 10"/>
          <p:cNvSpPr/>
          <p:nvPr/>
        </p:nvSpPr>
        <p:spPr>
          <a:xfrm>
            <a:off x="7452360" y="5047488"/>
            <a:ext cx="3886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values on the same model largely agree, additionally surfacing item_meat and item_beverage as second-tier drivers.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502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4F8F5"/>
          </a:solidFill>
        </p:spPr>
      </p:sp>
      <p:sp>
        <p:nvSpPr>
          <p:cNvPr id="6" name="Text 4"/>
          <p:cNvSpPr/>
          <p:nvPr/>
        </p:nvSpPr>
        <p:spPr>
          <a:xfrm>
            <a:off x="777240" y="217627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 sample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records limits how far resampling and tuning can safely go — more data would let the model learn the minority class directly.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4F8F5"/>
          </a:solidFill>
        </p:spPr>
      </p:sp>
      <p:sp>
        <p:nvSpPr>
          <p:cNvPr id="9" name="Text 7"/>
          <p:cNvSpPr/>
          <p:nvPr/>
        </p:nvSpPr>
        <p:spPr>
          <a:xfrm>
            <a:off x="777240" y="350215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Precision trade-off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82219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85.7% recall comes with only 29.5% precision; a deployed version needs a UX that tolerates false alarms gracefully.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4F8F5"/>
          </a:solidFill>
        </p:spPr>
      </p:sp>
      <p:sp>
        <p:nvSpPr>
          <p:cNvPr id="12" name="Text 10"/>
          <p:cNvSpPr/>
          <p:nvPr/>
        </p:nvSpPr>
        <p:spPr>
          <a:xfrm>
            <a:off x="777240" y="482803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scope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14807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price, brand, or user-behavior history — likely a strong source of untapped signal.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0916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DF7F0"/>
          </a:solidFill>
        </p:spPr>
      </p:sp>
      <p:sp>
        <p:nvSpPr>
          <p:cNvPr id="16" name="Text 14"/>
          <p:cNvSpPr/>
          <p:nvPr/>
        </p:nvSpPr>
        <p:spPr>
          <a:xfrm>
            <a:off x="6355080" y="217627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cost-sensitive learning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249631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SMOTE against class-weighted losses and ensemble-level cost matrices.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DF7F0"/>
          </a:solidFill>
        </p:spPr>
      </p:sp>
      <p:sp>
        <p:nvSpPr>
          <p:cNvPr id="19" name="Text 17"/>
          <p:cNvSpPr/>
          <p:nvPr/>
        </p:nvSpPr>
        <p:spPr>
          <a:xfrm>
            <a:off x="6355080" y="350215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stacking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382219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Blend Logistic Regression's balanced precision/recall with the tree models' pattern capacity.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7091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DF7F0"/>
          </a:solidFill>
        </p:spPr>
      </p:sp>
      <p:sp>
        <p:nvSpPr>
          <p:cNvPr id="22" name="Text 20"/>
          <p:cNvSpPr/>
          <p:nvPr/>
        </p:nvSpPr>
        <p:spPr>
          <a:xfrm>
            <a:off x="6355080" y="482803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pilot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5148072"/>
            <a:ext cx="4663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against actual household consumption logs rather than the current dataset.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D6A4F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40916C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F7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Asif  ·  Saeera Tanjim  ·  Salsabil Saeed   —   CSE 4622, Islamic University of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5883</Words>
  <Application>WPS Presentation</Application>
  <PresentationFormat>On-screen Show (16:9)</PresentationFormat>
  <Paragraphs>285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Poppins</vt:lpstr>
      <vt:lpstr>Segoe Print</vt:lpstr>
      <vt:lpstr>Poppins</vt:lpstr>
      <vt:lpstr>Poppins</vt:lpstr>
      <vt:lpstr>Calibri</vt:lpstr>
      <vt:lpstr>Calibri</vt:lpstr>
      <vt:lpstr>Calibri</vt:lpstr>
      <vt:lpstr>Arial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Asif Hasan</cp:lastModifiedBy>
  <cp:revision>2</cp:revision>
  <dcterms:created xsi:type="dcterms:W3CDTF">2026-08-01T19:01:00Z</dcterms:created>
  <dcterms:modified xsi:type="dcterms:W3CDTF">2026-08-01T19:10:42Z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8B2D49121E7B4D38B5839021E3D69FCB_12</vt:lpwstr>
  </property>
  <property fmtid="{D5CDD505-2E9C-101B-9397-08002B2CF9AE}" pid="3" name="KSOProductBuildVer">
    <vt:lpwstr>1033-12.1.0.28032</vt:lpwstr>
  </property>
</Properties>
</file>